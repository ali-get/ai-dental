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1" d="100"/>
          <a:sy n="101" d="100"/>
        </p:scale>
        <p:origin x="108" y="5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4631C0-A525-A32A-FD9A-05A00E0E7C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76E8F8D-ABFC-7DE0-A993-046326AB9D8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BD93F9-BA27-168F-FBF4-3728E3C11B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5B9418-458A-4F15-A66E-98268880B664}" type="datetimeFigureOut">
              <a:rPr lang="en-CA" smtClean="0"/>
              <a:t>2026-07-19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8B8941-E9DE-109E-BDA9-B31F3BB3D0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361FA7-EADA-CBAF-8E00-4BD803C7E4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EF7A4C-AEA1-4322-AFC1-1E35D747A140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8497908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C2190A-C6EA-111A-1E6B-017480E1CE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A8F41F-6930-9A36-C3D3-01CE032619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6EFA3C-08E6-5D7C-3AC3-802DFFCCE4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5B9418-458A-4F15-A66E-98268880B664}" type="datetimeFigureOut">
              <a:rPr lang="en-CA" smtClean="0"/>
              <a:t>2026-07-19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044341-14CB-1C42-273C-B9ECBE4B76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6ABE35-DBCB-BD7E-9B77-7A9B64BFFD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EF7A4C-AEA1-4322-AFC1-1E35D747A140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9460949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609460-FE86-3478-7971-FB4BA12AB9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0B29EB-83C0-EACC-2511-66C9DADCC3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72B720-9F99-83D0-E6F7-9EE869B04F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5B9418-458A-4F15-A66E-98268880B664}" type="datetimeFigureOut">
              <a:rPr lang="en-CA" smtClean="0"/>
              <a:t>2026-07-19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132C82-C085-6453-2B72-AB1F719717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C3BE72-BD6B-458A-DB33-639EEAF3EA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EF7A4C-AEA1-4322-AFC1-1E35D747A140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1461851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472AA3-6553-CB72-20FD-999D3EE4D9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EFD90B-D601-94A4-F22B-DA50229338A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0DEF5EC-2721-BDFB-4068-F29C438D2C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D56633-1B09-1374-B4B3-ABB190D02E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5B9418-458A-4F15-A66E-98268880B664}" type="datetimeFigureOut">
              <a:rPr lang="en-CA" smtClean="0"/>
              <a:t>2026-07-19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341D8D0-B4E1-86C1-2F63-6FA08578B4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F1A50FD-0065-6CE8-3247-E0CEA5A8A8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EF7A4C-AEA1-4322-AFC1-1E35D747A140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9487515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7DD254-DA79-6234-2845-4E655459C1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D682C89-454F-6F65-C395-B50515DB41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CE53949-DEDF-FD5D-CB6B-C17DB7FE8E7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CD3DADB-0D80-B972-0E04-F9A6C1DB287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7C8D5C4-0303-3D0C-B301-9B5145CEA54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9A95680-D965-9E4A-3A24-D76148E32A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5B9418-458A-4F15-A66E-98268880B664}" type="datetimeFigureOut">
              <a:rPr lang="en-CA" smtClean="0"/>
              <a:t>2026-07-19</a:t>
            </a:fld>
            <a:endParaRPr lang="en-C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383D8BD-BB91-DFC1-C0AF-6FBEEC5EA1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A0B9F8F-EA38-CF2D-A46C-2C74ADB4E4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EF7A4C-AEA1-4322-AFC1-1E35D747A140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9327011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AD28FE-CCA9-3E06-CDE5-1092C9C8F1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B91D820-0F42-862D-5896-471A711F47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5B9418-458A-4F15-A66E-98268880B664}" type="datetimeFigureOut">
              <a:rPr lang="en-CA" smtClean="0"/>
              <a:t>2026-07-19</a:t>
            </a:fld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5A97B2A-687B-6C01-1DE3-75E83CE4C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4E036B5-53F5-B8E8-EAF7-553C4305B4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EF7A4C-AEA1-4322-AFC1-1E35D747A140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4952703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5587365-A179-C458-D39E-72230EB111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5B9418-458A-4F15-A66E-98268880B664}" type="datetimeFigureOut">
              <a:rPr lang="en-CA" smtClean="0"/>
              <a:t>2026-07-19</a:t>
            </a:fld>
            <a:endParaRPr lang="en-C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AE29D11-A2E2-1FF4-1E7D-96379995FD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14C353F-DF7C-F45C-F918-5D37CE1502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EF7A4C-AEA1-4322-AFC1-1E35D747A140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8497311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61947E-A937-7056-8910-88E0AA5E9A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38564E-93C8-442F-C4A4-06219BDFC5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A8A56EC-4A9F-79AC-0793-4BFDFA56314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431999-71CA-1B66-FF05-428C98EADF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5B9418-458A-4F15-A66E-98268880B664}" type="datetimeFigureOut">
              <a:rPr lang="en-CA" smtClean="0"/>
              <a:t>2026-07-19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AC18CF0-D9FE-0B77-82AF-45AC65533A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C7A497E-FD1A-326C-8B61-22013EF529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EF7A4C-AEA1-4322-AFC1-1E35D747A140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7515732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B3506D-BAEA-2296-3D2E-9E5F71D690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0DFBF4F-E95C-CDED-EC46-C69428FFD78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45C05CD-73AD-0901-B579-09A3FB9808C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E787427-661C-97F8-8514-0D094A3C30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5B9418-458A-4F15-A66E-98268880B664}" type="datetimeFigureOut">
              <a:rPr lang="en-CA" smtClean="0"/>
              <a:t>2026-07-19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B98C144-F294-7163-51B1-74165AEDEC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E4863EB-979D-0389-08D8-8FDA0655E3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EF7A4C-AEA1-4322-AFC1-1E35D747A140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329691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8C5AC8-FBBD-93CF-01C5-79950EE63E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0A6DFFD-933B-8B65-1556-1F1B638BEDF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244BD7-1739-9F9D-4C4A-EFA57E2A45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5B9418-458A-4F15-A66E-98268880B664}" type="datetimeFigureOut">
              <a:rPr lang="en-CA" smtClean="0"/>
              <a:t>2026-07-19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5AE31B-1FDF-205C-B264-9ABBF75C40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02CDFF-61D8-25B6-B5A4-BD67347A74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EF7A4C-AEA1-4322-AFC1-1E35D747A140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5880007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A45C165-34F0-823D-3F5A-9CFCBA84ECA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D8C64B5-50A4-D58D-5FE6-E5D4846A3D2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F649BE-4B24-B7FC-6217-3519B1EBEB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5B9418-458A-4F15-A66E-98268880B664}" type="datetimeFigureOut">
              <a:rPr lang="en-CA" smtClean="0"/>
              <a:t>2026-07-19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24A605-2956-C5E7-36ED-FFF4E05125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8E5764-EFCE-2CD2-3BAA-F65FD90FF8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EF7A4C-AEA1-4322-AFC1-1E35D747A140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3601928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06D963A-CD8F-61F5-1215-5081C49B47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8488CD-7153-916A-D90B-D79B852F34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6EA18A-D054-9999-05E2-A5D310A0FDC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85B9418-458A-4F15-A66E-98268880B664}" type="datetimeFigureOut">
              <a:rPr lang="en-CA" smtClean="0"/>
              <a:t>2026-07-19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EA6FA3-7816-43CE-12A6-50EADA51EBC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E044AD-7F5B-D483-9590-0E30B0F5462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BEF7A4C-AEA1-4322-AFC1-1E35D747A140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9723495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mdpi.com/" TargetMode="External"/><Relationship Id="rId2" Type="http://schemas.openxmlformats.org/officeDocument/2006/relationships/hyperlink" Target="https://pubmed.ncbi.nlm.nih.gov/34574013/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www.mdpi.com/2077-0383/10/7/1496?utm" TargetMode="External"/><Relationship Id="rId4" Type="http://schemas.openxmlformats.org/officeDocument/2006/relationships/hyperlink" Target="https://pubmed.ncbi.nlm.nih.gov/36215971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D62891-70C9-0690-9B1D-A7F64B2C327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06400"/>
            <a:ext cx="9144000" cy="2387600"/>
          </a:xfrm>
        </p:spPr>
        <p:txBody>
          <a:bodyPr>
            <a:normAutofit/>
          </a:bodyPr>
          <a:lstStyle/>
          <a:p>
            <a:r>
              <a:rPr lang="en-US" sz="3600" b="1" dirty="0"/>
              <a:t>Deep Learning-Based Dental X-Ray Diagnosis and Classification</a:t>
            </a:r>
            <a:endParaRPr lang="en-US" sz="36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1F0098D-63DC-5F6F-3A7F-8DD5F67329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667015"/>
            <a:ext cx="3922643" cy="723472"/>
          </a:xfrm>
        </p:spPr>
        <p:txBody>
          <a:bodyPr>
            <a:norm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CA" sz="1800" b="1" dirty="0" smtClean="0"/>
              <a:t>Ali </a:t>
            </a:r>
            <a:r>
              <a:rPr lang="en-CA" sz="1800" b="1" dirty="0"/>
              <a:t>Saeed </a:t>
            </a:r>
            <a:r>
              <a:rPr lang="en-CA" sz="1800" b="1" dirty="0" smtClean="0"/>
              <a:t>Dubai</a:t>
            </a:r>
            <a:endParaRPr lang="en-CA" sz="1800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E412BDB-3A99-CF3D-BA31-360DE1AE52BD}"/>
              </a:ext>
            </a:extLst>
          </p:cNvPr>
          <p:cNvSpPr txBox="1"/>
          <p:nvPr/>
        </p:nvSpPr>
        <p:spPr>
          <a:xfrm>
            <a:off x="6262735" y="4667015"/>
            <a:ext cx="609750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ctr">
              <a:buNone/>
            </a:pPr>
            <a:r>
              <a:rPr lang="en-US" sz="1800" dirty="0">
                <a:solidFill>
                  <a:srgbClr val="000000"/>
                </a:solidFill>
                <a:effectLst/>
                <a:latin typeface="Helvetica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Assist. Alaa Jassim Abd</a:t>
            </a:r>
            <a:endParaRPr lang="en-US" sz="14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471841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04812C46-200A-4DEB-A05E-3ED6C68C238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9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97AB8B50-8C82-D164-6EE3-AF9F9886EE0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882" b="-1"/>
          <a:stretch>
            <a:fillRect/>
          </a:stretch>
        </p:blipFill>
        <p:spPr>
          <a:xfrm>
            <a:off x="2522356" y="10"/>
            <a:ext cx="9669642" cy="6857990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D1EA859B-E555-4109-94F3-6700E046E008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7390263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7DD09BE-B703-1398-8609-57EEB1AEEA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3822189" cy="1899912"/>
          </a:xfrm>
        </p:spPr>
        <p:txBody>
          <a:bodyPr>
            <a:normAutofit/>
          </a:bodyPr>
          <a:lstStyle/>
          <a:p>
            <a:r>
              <a:rPr lang="en-CA" sz="4000" dirty="0"/>
              <a:t>Problem &amp; Motivation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CF2D9E-2311-7A0C-D0EB-1DF07DEDA6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434201"/>
            <a:ext cx="4215581" cy="3742762"/>
          </a:xfrm>
        </p:spPr>
        <p:txBody>
          <a:bodyPr>
            <a:normAutofit/>
          </a:bodyPr>
          <a:lstStyle/>
          <a:p>
            <a:r>
              <a:rPr lang="en-CA" sz="2000" dirty="0"/>
              <a:t>Dental X-ray interpretation requires expertise</a:t>
            </a:r>
          </a:p>
          <a:p>
            <a:r>
              <a:rPr lang="en-US" sz="2000" dirty="0"/>
              <a:t>Early detection improves treatment outcomes.</a:t>
            </a:r>
          </a:p>
          <a:p>
            <a:r>
              <a:rPr lang="en-US" sz="2000" dirty="0"/>
              <a:t>Manual analysis is </a:t>
            </a:r>
            <a:r>
              <a:rPr lang="en-US" sz="2000" b="1" dirty="0"/>
              <a:t>time-consuming and prone to human errors</a:t>
            </a:r>
            <a:r>
              <a:rPr lang="en-US" sz="2000" dirty="0"/>
              <a:t>.</a:t>
            </a:r>
          </a:p>
          <a:p>
            <a:r>
              <a:rPr lang="en-US" sz="2000" dirty="0"/>
              <a:t>AI can assist dentists by providing </a:t>
            </a:r>
            <a:r>
              <a:rPr lang="en-US" sz="2000" b="1" dirty="0"/>
              <a:t>fast and accurate </a:t>
            </a:r>
            <a:r>
              <a:rPr lang="en-US" sz="2000" dirty="0"/>
              <a:t>diagnosis.</a:t>
            </a:r>
          </a:p>
          <a:p>
            <a:endParaRPr lang="en-US" sz="2000" dirty="0"/>
          </a:p>
          <a:p>
            <a:pPr marL="0" indent="0">
              <a:buNone/>
            </a:pPr>
            <a:endParaRPr lang="en-CA" sz="20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9EE9193-60F6-2D16-B519-5035BD2BD940}"/>
              </a:ext>
            </a:extLst>
          </p:cNvPr>
          <p:cNvSpPr txBox="1"/>
          <p:nvPr/>
        </p:nvSpPr>
        <p:spPr>
          <a:xfrm>
            <a:off x="838200" y="6123543"/>
            <a:ext cx="102984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highlight>
                  <a:srgbClr val="C0C0C0"/>
                </a:highlight>
              </a:rPr>
              <a:t>Objective:</a:t>
            </a:r>
            <a:r>
              <a:rPr lang="en-US" dirty="0">
                <a:highlight>
                  <a:srgbClr val="C0C0C0"/>
                </a:highlight>
              </a:rPr>
              <a:t> Classify </a:t>
            </a:r>
            <a:r>
              <a:rPr lang="en-US" b="1" dirty="0">
                <a:highlight>
                  <a:srgbClr val="C0C0C0"/>
                </a:highlight>
              </a:rPr>
              <a:t>Periapical X-rays</a:t>
            </a:r>
            <a:r>
              <a:rPr lang="en-US" dirty="0">
                <a:highlight>
                  <a:srgbClr val="C0C0C0"/>
                </a:highlight>
              </a:rPr>
              <a:t> into 5 classes: Cavity, Fillings, Impacted Tooth, Implant, Normal.</a:t>
            </a:r>
          </a:p>
        </p:txBody>
      </p:sp>
    </p:spTree>
    <p:extLst>
      <p:ext uri="{BB962C8B-B14F-4D97-AF65-F5344CB8AC3E}">
        <p14:creationId xmlns:p14="http://schemas.microsoft.com/office/powerpoint/2010/main" val="20769364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04812C46-200A-4DEB-A05E-3ED6C68C238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9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AFEB55B-D666-7783-02DB-B5F057B5FB1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436"/>
          <a:stretch>
            <a:fillRect/>
          </a:stretch>
        </p:blipFill>
        <p:spPr>
          <a:xfrm>
            <a:off x="2522356" y="10"/>
            <a:ext cx="9669642" cy="6857990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D1EA859B-E555-4109-94F3-6700E046E008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7390263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59B0178-9D09-BD23-B060-E973BB3749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3822189" cy="1899912"/>
          </a:xfrm>
        </p:spPr>
        <p:txBody>
          <a:bodyPr>
            <a:normAutofit/>
          </a:bodyPr>
          <a:lstStyle/>
          <a:p>
            <a:r>
              <a:rPr lang="en-CA" sz="4000"/>
              <a:t>Dataset &amp; Preprocessing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8584C7-92B7-34AB-C628-227D451243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434201"/>
            <a:ext cx="3822189" cy="3742762"/>
          </a:xfrm>
        </p:spPr>
        <p:txBody>
          <a:bodyPr>
            <a:normAutofit/>
          </a:bodyPr>
          <a:lstStyle/>
          <a:p>
            <a:r>
              <a:rPr lang="en-US" sz="1400" b="1" dirty="0"/>
              <a:t>Content:</a:t>
            </a:r>
          </a:p>
          <a:p>
            <a:pPr lvl="1"/>
            <a:r>
              <a:rPr lang="en-US" sz="1400" b="1" dirty="0"/>
              <a:t>Dataset:</a:t>
            </a:r>
            <a:r>
              <a:rPr lang="en-US" sz="1400" dirty="0"/>
              <a:t> Periapical dental X-ray images.</a:t>
            </a:r>
          </a:p>
          <a:p>
            <a:pPr lvl="1"/>
            <a:r>
              <a:rPr lang="en-CA" sz="1400" b="1" dirty="0"/>
              <a:t>Split:</a:t>
            </a:r>
            <a:r>
              <a:rPr lang="en-CA" sz="1400" dirty="0"/>
              <a:t> Train / Validation / Test.</a:t>
            </a:r>
          </a:p>
          <a:p>
            <a:pPr lvl="1"/>
            <a:r>
              <a:rPr lang="en-US" sz="1400" b="1" dirty="0"/>
              <a:t>Classes Distribution:</a:t>
            </a:r>
            <a:r>
              <a:rPr lang="en-US" sz="1400" dirty="0"/>
              <a:t> Normal dominant, Cavity &amp; Impacted Tooth rare.</a:t>
            </a:r>
          </a:p>
          <a:p>
            <a:pPr lvl="1"/>
            <a:endParaRPr lang="en-US" sz="1400" dirty="0"/>
          </a:p>
          <a:p>
            <a:r>
              <a:rPr lang="en-CA" sz="1400" b="1" dirty="0"/>
              <a:t>Preprocessing:</a:t>
            </a:r>
            <a:endParaRPr lang="en-CA" sz="1400" dirty="0"/>
          </a:p>
          <a:p>
            <a:pPr lvl="1"/>
            <a:r>
              <a:rPr lang="en-US" sz="1400" dirty="0"/>
              <a:t>Center crop → resize to 224×224</a:t>
            </a:r>
          </a:p>
          <a:p>
            <a:pPr lvl="1"/>
            <a:r>
              <a:rPr lang="en-CA" sz="1400" dirty="0"/>
              <a:t>Normalize pixel values → [0,1]</a:t>
            </a:r>
          </a:p>
          <a:p>
            <a:pPr lvl="1"/>
            <a:r>
              <a:rPr lang="en-CA" sz="1400" dirty="0"/>
              <a:t>Grayscale → RGB conversion</a:t>
            </a:r>
            <a:endParaRPr lang="en-US" sz="1400" dirty="0"/>
          </a:p>
          <a:p>
            <a:endParaRPr lang="en-US" sz="14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FF58A8F-6FAA-1F32-B0E2-7D5157D6A7B1}"/>
              </a:ext>
            </a:extLst>
          </p:cNvPr>
          <p:cNvSpPr txBox="1"/>
          <p:nvPr/>
        </p:nvSpPr>
        <p:spPr>
          <a:xfrm>
            <a:off x="838200" y="6123543"/>
            <a:ext cx="52003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b="1" dirty="0">
                <a:highlight>
                  <a:srgbClr val="C0C0C0"/>
                </a:highlight>
              </a:rPr>
              <a:t>Data Augmentation:</a:t>
            </a:r>
            <a:r>
              <a:rPr lang="en-CA" dirty="0">
                <a:highlight>
                  <a:srgbClr val="C0C0C0"/>
                </a:highlight>
              </a:rPr>
              <a:t> Flip, rotation ±3%, zoom ±5%</a:t>
            </a:r>
            <a:endParaRPr lang="en-US" dirty="0">
              <a:highlight>
                <a:srgbClr val="C0C0C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23449050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C7DCE8-0A9F-3140-0042-2439AE7D3B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Model Architecture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527E4F-57D7-7D5B-91DD-B685BF44DD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CA" dirty="0"/>
              <a:t>Base Model: </a:t>
            </a:r>
            <a:r>
              <a:rPr lang="en-CA" b="1" dirty="0"/>
              <a:t>MobileNetV2 (pretrained on ImageNet)</a:t>
            </a:r>
          </a:p>
          <a:p>
            <a:r>
              <a:rPr lang="en-CA" b="1" dirty="0"/>
              <a:t>Layers</a:t>
            </a:r>
            <a:r>
              <a:rPr lang="en-CA" dirty="0"/>
              <a:t>: Lambda normalization, data augmentation, MobileNetV2 feature extractor, GAP, Dense 512 + </a:t>
            </a:r>
            <a:r>
              <a:rPr lang="en-CA" dirty="0" err="1"/>
              <a:t>BatchNorm</a:t>
            </a:r>
            <a:r>
              <a:rPr lang="en-CA" dirty="0"/>
              <a:t> + Dropout, Output 5-class </a:t>
            </a:r>
            <a:r>
              <a:rPr lang="en-CA" dirty="0" err="1"/>
              <a:t>Softmax</a:t>
            </a:r>
            <a:endParaRPr lang="en-CA" dirty="0"/>
          </a:p>
          <a:p>
            <a:r>
              <a:rPr lang="en-CA" b="1" dirty="0"/>
              <a:t>Optimizer</a:t>
            </a:r>
            <a:r>
              <a:rPr lang="en-CA" dirty="0"/>
              <a:t>: Adam, Loss: Sparse Categorical </a:t>
            </a:r>
            <a:r>
              <a:rPr lang="en-CA" dirty="0" err="1"/>
              <a:t>Crossentropy</a:t>
            </a:r>
            <a:endParaRPr lang="en-CA" dirty="0"/>
          </a:p>
          <a:p>
            <a:r>
              <a:rPr lang="en-CA" b="1" dirty="0"/>
              <a:t>Training Strategy:</a:t>
            </a:r>
            <a:endParaRPr lang="en-CA" dirty="0"/>
          </a:p>
          <a:p>
            <a:pPr lvl="1"/>
            <a:r>
              <a:rPr lang="en-US" dirty="0"/>
              <a:t>Phase 1: Train head only (</a:t>
            </a:r>
            <a:r>
              <a:rPr lang="en-US" b="1" dirty="0"/>
              <a:t>base frozen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Phase 2: Fine-tune top layers (</a:t>
            </a:r>
            <a:r>
              <a:rPr lang="en-US" b="1" dirty="0"/>
              <a:t>low LR</a:t>
            </a:r>
            <a:r>
              <a:rPr lang="en-US" dirty="0"/>
              <a:t>)</a:t>
            </a:r>
          </a:p>
          <a:p>
            <a:pPr lvl="1"/>
            <a:r>
              <a:rPr lang="en-CA" dirty="0"/>
              <a:t>Callbacks: </a:t>
            </a:r>
            <a:r>
              <a:rPr lang="en-CA" dirty="0" err="1"/>
              <a:t>ModelCheckpoint</a:t>
            </a:r>
            <a:r>
              <a:rPr lang="en-CA" dirty="0"/>
              <a:t>, </a:t>
            </a:r>
            <a:r>
              <a:rPr lang="en-CA" dirty="0" err="1"/>
              <a:t>ReduceLROnPlateau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4784775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70E92D-294B-D85F-219A-04E8693C06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Evaluation Metrics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1382FC-073F-F46B-0D2D-B50C68CC2A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CA" b="1" dirty="0"/>
              <a:t>Overall Performance:</a:t>
            </a:r>
            <a:endParaRPr lang="en-CA" dirty="0"/>
          </a:p>
          <a:p>
            <a:pPr lvl="1"/>
            <a:r>
              <a:rPr lang="en-CA" dirty="0"/>
              <a:t>Accuracy: </a:t>
            </a:r>
            <a:r>
              <a:rPr lang="en-CA" b="1" dirty="0"/>
              <a:t>90%</a:t>
            </a:r>
          </a:p>
          <a:p>
            <a:pPr lvl="1"/>
            <a:r>
              <a:rPr lang="en-CA" dirty="0"/>
              <a:t>Weighted F1-score: </a:t>
            </a:r>
            <a:r>
              <a:rPr lang="en-CA" b="1" dirty="0"/>
              <a:t>0.90</a:t>
            </a:r>
          </a:p>
          <a:p>
            <a:pPr lvl="1"/>
            <a:r>
              <a:rPr lang="en-CA" dirty="0"/>
              <a:t>Macro F1-score: </a:t>
            </a:r>
            <a:r>
              <a:rPr lang="en-CA" b="1" dirty="0"/>
              <a:t>0.66</a:t>
            </a:r>
          </a:p>
          <a:p>
            <a:pPr lvl="1"/>
            <a:endParaRPr lang="en-CA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53AD60BD-E9E4-AAB4-7BAE-884537C1402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90335482"/>
              </p:ext>
            </p:extLst>
          </p:nvPr>
        </p:nvGraphicFramePr>
        <p:xfrm>
          <a:off x="838200" y="3578939"/>
          <a:ext cx="10515600" cy="2204736"/>
        </p:xfrm>
        <a:graphic>
          <a:graphicData uri="http://schemas.openxmlformats.org/drawingml/2006/table">
            <a:tbl>
              <a:tblPr/>
              <a:tblGrid>
                <a:gridCol w="5257800">
                  <a:extLst>
                    <a:ext uri="{9D8B030D-6E8A-4147-A177-3AD203B41FA5}">
                      <a16:colId xmlns:a16="http://schemas.microsoft.com/office/drawing/2014/main" val="4009969513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1517545935"/>
                    </a:ext>
                  </a:extLst>
                </a:gridCol>
              </a:tblGrid>
              <a:tr h="36745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CA" b="1" dirty="0"/>
                        <a:t>Class</a:t>
                      </a:r>
                    </a:p>
                  </a:txBody>
                  <a:tcPr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CA" b="1" dirty="0"/>
                        <a:t>F1-score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04608936"/>
                  </a:ext>
                </a:extLst>
              </a:tr>
              <a:tr h="36745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CA" dirty="0"/>
                        <a:t>Cavity</a:t>
                      </a:r>
                    </a:p>
                  </a:txBody>
                  <a:tcPr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CA" dirty="0"/>
                        <a:t>0.17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33403600"/>
                  </a:ext>
                </a:extLst>
              </a:tr>
              <a:tr h="36745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CA" dirty="0"/>
                        <a:t>Fillings</a:t>
                      </a:r>
                    </a:p>
                  </a:txBody>
                  <a:tcPr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CA" dirty="0"/>
                        <a:t>0.82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88923472"/>
                  </a:ext>
                </a:extLst>
              </a:tr>
              <a:tr h="36745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CA" dirty="0"/>
                        <a:t>Impacted Tooth</a:t>
                      </a:r>
                    </a:p>
                  </a:txBody>
                  <a:tcPr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CA" dirty="0"/>
                        <a:t>0.51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92286684"/>
                  </a:ext>
                </a:extLst>
              </a:tr>
              <a:tr h="36745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CA" dirty="0"/>
                        <a:t>Implant</a:t>
                      </a:r>
                    </a:p>
                  </a:txBody>
                  <a:tcPr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CA" dirty="0"/>
                        <a:t>0.86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69327252"/>
                  </a:ext>
                </a:extLst>
              </a:tr>
              <a:tr h="36745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CA" dirty="0"/>
                        <a:t>Normal</a:t>
                      </a:r>
                    </a:p>
                  </a:txBody>
                  <a:tcPr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CA" dirty="0"/>
                        <a:t>0.94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13098635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CFB86AD3-5E8A-0E50-C95A-8D333CE14C73}"/>
              </a:ext>
            </a:extLst>
          </p:cNvPr>
          <p:cNvSpPr txBox="1"/>
          <p:nvPr/>
        </p:nvSpPr>
        <p:spPr>
          <a:xfrm>
            <a:off x="838200" y="6123543"/>
            <a:ext cx="44223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highlight>
                  <a:srgbClr val="C0C0C0"/>
                </a:highlight>
              </a:rPr>
              <a:t>Notes:</a:t>
            </a:r>
            <a:r>
              <a:rPr lang="en-US" dirty="0">
                <a:highlight>
                  <a:srgbClr val="C0C0C0"/>
                </a:highlight>
              </a:rPr>
              <a:t> Macro F1 lower due to rare classes.</a:t>
            </a:r>
          </a:p>
        </p:txBody>
      </p:sp>
    </p:spTree>
    <p:extLst>
      <p:ext uri="{BB962C8B-B14F-4D97-AF65-F5344CB8AC3E}">
        <p14:creationId xmlns:p14="http://schemas.microsoft.com/office/powerpoint/2010/main" val="33606402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7799590-10DC-6BB8-1EE9-5F00B25D708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3467" y="1444625"/>
            <a:ext cx="5291666" cy="3968749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F3D9832D-4F47-2A9D-4D52-9E3A6E55B01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6865" y="1444625"/>
            <a:ext cx="5291667" cy="3968749"/>
          </a:xfrm>
          <a:prstGeom prst="rect">
            <a:avLst/>
          </a:prstGeom>
        </p:spPr>
      </p:pic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2F0E097B-D217-B12A-ED13-38AFA5E7B2D2}"/>
              </a:ext>
            </a:extLst>
          </p:cNvPr>
          <p:cNvCxnSpPr>
            <a:cxnSpLocks/>
          </p:cNvCxnSpPr>
          <p:nvPr/>
        </p:nvCxnSpPr>
        <p:spPr>
          <a:xfrm flipH="1">
            <a:off x="1406013" y="3429000"/>
            <a:ext cx="1278193" cy="2499852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B1FD780E-E749-8D5A-0288-4517088764EB}"/>
              </a:ext>
            </a:extLst>
          </p:cNvPr>
          <p:cNvSpPr txBox="1"/>
          <p:nvPr/>
        </p:nvSpPr>
        <p:spPr>
          <a:xfrm>
            <a:off x="838200" y="6123543"/>
            <a:ext cx="38856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highlight>
                  <a:srgbClr val="C0C0C0"/>
                </a:highlight>
              </a:rPr>
              <a:t>Phase 2</a:t>
            </a:r>
            <a:r>
              <a:rPr lang="en-US" dirty="0">
                <a:highlight>
                  <a:srgbClr val="C0C0C0"/>
                </a:highlight>
              </a:rPr>
              <a:t>: Fine-tune top layers (low LR)</a:t>
            </a:r>
          </a:p>
        </p:txBody>
      </p:sp>
    </p:spTree>
    <p:extLst>
      <p:ext uri="{BB962C8B-B14F-4D97-AF65-F5344CB8AC3E}">
        <p14:creationId xmlns:p14="http://schemas.microsoft.com/office/powerpoint/2010/main" val="29500345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A5E2BD-700A-7F19-BB38-CEAE45D0C6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Techniques &amp; Improvements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05820F-40B9-6C88-4B17-2BFAF340D2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Transfer Learning (MobileNetV2)</a:t>
            </a:r>
          </a:p>
          <a:p>
            <a:r>
              <a:rPr lang="en-CA" dirty="0"/>
              <a:t>Data Augmentation for generalization</a:t>
            </a:r>
          </a:p>
          <a:p>
            <a:r>
              <a:rPr lang="en-US" dirty="0"/>
              <a:t>Fine-tuning top layers of base model</a:t>
            </a:r>
          </a:p>
          <a:p>
            <a:r>
              <a:rPr lang="en-CA" dirty="0" err="1"/>
              <a:t>ReduceLROnPlateau</a:t>
            </a:r>
            <a:r>
              <a:rPr lang="en-CA" dirty="0"/>
              <a:t> → adaptive learning rate</a:t>
            </a:r>
          </a:p>
          <a:p>
            <a:r>
              <a:rPr lang="en-CA" dirty="0"/>
              <a:t>Checkpoint → save best model</a:t>
            </a:r>
          </a:p>
          <a:p>
            <a:r>
              <a:rPr lang="en-US" dirty="0"/>
              <a:t>Normalization &amp; RGB conversion for pretrained compatibility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4115098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DA25ED-F380-092D-14A9-677ECC022B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Conclusion &amp; Future Work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089446-8976-1777-62DE-2EA03049BE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Successfully classified periapical X-rays with +</a:t>
            </a:r>
            <a:r>
              <a:rPr lang="en-US" b="1" dirty="0"/>
              <a:t>95% accuracy</a:t>
            </a:r>
          </a:p>
          <a:p>
            <a:r>
              <a:rPr lang="en-US" dirty="0"/>
              <a:t>Strong performance on majority classes; weaknesses in rare classes (Cavity, Impacted Tooth)</a:t>
            </a:r>
          </a:p>
          <a:p>
            <a:r>
              <a:rPr lang="en-US" dirty="0"/>
              <a:t>Demonstrates feasibility of AI-assisted dental diagnosis</a:t>
            </a:r>
          </a:p>
          <a:p>
            <a:r>
              <a:rPr lang="en-US" dirty="0"/>
              <a:t>Integration with dental clinic software</a:t>
            </a:r>
          </a:p>
          <a:p>
            <a:r>
              <a:rPr lang="en-US" dirty="0"/>
              <a:t>Expansion to detect 10+ dental conditions</a:t>
            </a:r>
          </a:p>
          <a:p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1714600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0CD33E-3B38-3B96-967E-2A8025837A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Sources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39C29A-55D5-3B13-B2D6-BF31CCA6F8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>
                <a:hlinkClick r:id="rId2"/>
              </a:rPr>
              <a:t>Deep Learning for Caries Detection and Classification – PubMed</a:t>
            </a:r>
            <a:endParaRPr lang="en-US" dirty="0"/>
          </a:p>
          <a:p>
            <a:endParaRPr lang="en-US" dirty="0"/>
          </a:p>
          <a:p>
            <a:r>
              <a:rPr lang="en-US" dirty="0">
                <a:hlinkClick r:id="rId3"/>
              </a:rPr>
              <a:t>MDPI - Publisher of Open Access Journals</a:t>
            </a:r>
            <a:endParaRPr lang="en-US" dirty="0"/>
          </a:p>
          <a:p>
            <a:endParaRPr lang="en-US" dirty="0"/>
          </a:p>
          <a:p>
            <a:r>
              <a:rPr lang="en-US" dirty="0">
                <a:hlinkClick r:id="rId4"/>
              </a:rPr>
              <a:t>Detection of Proximal Caries Lesions on Bitewing Radiographs Using Deep Learning Method – PubMed</a:t>
            </a:r>
            <a:endParaRPr lang="en-US" dirty="0"/>
          </a:p>
          <a:p>
            <a:endParaRPr lang="en-US" dirty="0"/>
          </a:p>
          <a:p>
            <a:r>
              <a:rPr lang="en-US" dirty="0">
                <a:hlinkClick r:id="rId5"/>
              </a:rPr>
              <a:t>Classification of Dental Radiographs Using Deep Learning</a:t>
            </a:r>
            <a:endParaRPr lang="en-US" dirty="0"/>
          </a:p>
          <a:p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311940703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65</TotalTime>
  <Words>376</Words>
  <Application>Microsoft Office PowerPoint</Application>
  <PresentationFormat>Widescreen</PresentationFormat>
  <Paragraphs>68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6" baseType="lpstr">
      <vt:lpstr>Aptos</vt:lpstr>
      <vt:lpstr>Aptos Display</vt:lpstr>
      <vt:lpstr>Arial</vt:lpstr>
      <vt:lpstr>Calibri</vt:lpstr>
      <vt:lpstr>Helvetica</vt:lpstr>
      <vt:lpstr>Times New Roman</vt:lpstr>
      <vt:lpstr>Office Theme</vt:lpstr>
      <vt:lpstr>Deep Learning-Based Dental X-Ray Diagnosis and Classification</vt:lpstr>
      <vt:lpstr>Problem &amp; Motivation</vt:lpstr>
      <vt:lpstr>Dataset &amp; Preprocessing</vt:lpstr>
      <vt:lpstr>Model Architecture</vt:lpstr>
      <vt:lpstr>Evaluation Metrics</vt:lpstr>
      <vt:lpstr>PowerPoint Presentation</vt:lpstr>
      <vt:lpstr>Techniques &amp; Improvements</vt:lpstr>
      <vt:lpstr>Conclusion &amp; Future Work</vt:lpstr>
      <vt:lpstr>Sources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Deep Learning-Based Dental X-Ray Diagnosis and Classification</dc:title>
  <dc:creator>Mohammed M. Ali</dc:creator>
  <cp:lastModifiedBy>ali</cp:lastModifiedBy>
  <cp:revision>27</cp:revision>
  <dcterms:created xsi:type="dcterms:W3CDTF">2026-01-30T20:33:04Z</dcterms:created>
  <dcterms:modified xsi:type="dcterms:W3CDTF">2026-07-19T11:34:12Z</dcterms:modified>
</cp:coreProperties>
</file>